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imes New Roman MT Condensed" charset="1" panose="02030506070405020303"/>
      <p:regular r:id="rId21"/>
    </p:embeddedFont>
    <p:embeddedFont>
      <p:font typeface="Gotham" charset="1" panose="00000000000000000000"/>
      <p:regular r:id="rId22"/>
    </p:embeddedFont>
    <p:embeddedFont>
      <p:font typeface="Gotham Bold" charset="1" panose="00000000000000000000"/>
      <p:regular r:id="rId23"/>
    </p:embeddedFont>
    <p:embeddedFont>
      <p:font typeface="Times New Roman MT Condensed Italics" charset="1" panose="020305060704050903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90515" y="-2377820"/>
            <a:ext cx="19285436" cy="15042640"/>
          </a:xfrm>
          <a:custGeom>
            <a:avLst/>
            <a:gdLst/>
            <a:ahLst/>
            <a:cxnLst/>
            <a:rect r="r" b="b" t="t" l="l"/>
            <a:pathLst>
              <a:path h="15042640" w="19285436">
                <a:moveTo>
                  <a:pt x="0" y="0"/>
                </a:moveTo>
                <a:lnTo>
                  <a:pt x="19285437" y="0"/>
                </a:lnTo>
                <a:lnTo>
                  <a:pt x="19285437" y="15042640"/>
                </a:lnTo>
                <a:lnTo>
                  <a:pt x="0" y="15042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90650"/>
            <a:ext cx="15018696" cy="4548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22"/>
              </a:lnSpc>
            </a:pPr>
            <a:r>
              <a:rPr lang="en-US" sz="19403" spc="-737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COMPLAINT KPI ANALYZER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493371" y="7092495"/>
            <a:ext cx="11301259" cy="2387391"/>
          </a:xfrm>
          <a:custGeom>
            <a:avLst/>
            <a:gdLst/>
            <a:ahLst/>
            <a:cxnLst/>
            <a:rect r="r" b="b" t="t" l="l"/>
            <a:pathLst>
              <a:path h="2387391" w="11301259">
                <a:moveTo>
                  <a:pt x="0" y="0"/>
                </a:moveTo>
                <a:lnTo>
                  <a:pt x="11301258" y="0"/>
                </a:lnTo>
                <a:lnTo>
                  <a:pt x="11301258" y="2387391"/>
                </a:lnTo>
                <a:lnTo>
                  <a:pt x="0" y="23873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541824"/>
            <a:ext cx="10386396" cy="15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AI-powered system for analyzing telecom complaints and extracting structured insights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3642" y="-513273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597574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2"/>
              </a:lnSpc>
            </a:pPr>
            <a:r>
              <a:rPr lang="en-US" sz="6285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Problem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24964"/>
            <a:ext cx="13116305" cy="6595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3535" spc="-5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•Telecom companies receive large volumes of customer complaints daily</a:t>
            </a:r>
          </a:p>
          <a:p>
            <a:pPr algn="l">
              <a:lnSpc>
                <a:spcPts val="5303"/>
              </a:lnSpc>
            </a:pPr>
            <a:r>
              <a:rPr lang="en-US" sz="3535" spc="-5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•Complaints are stored as unstructured text (hard to analyze automatically)</a:t>
            </a:r>
          </a:p>
          <a:p>
            <a:pPr algn="l">
              <a:lnSpc>
                <a:spcPts val="5303"/>
              </a:lnSpc>
            </a:pPr>
            <a:r>
              <a:rPr lang="en-US" sz="3535" spc="-5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•Manual processing is slow, expensive, and error-prone</a:t>
            </a:r>
          </a:p>
          <a:p>
            <a:pPr algn="l">
              <a:lnSpc>
                <a:spcPts val="5303"/>
              </a:lnSpc>
            </a:pPr>
            <a:r>
              <a:rPr lang="en-US" sz="3535" spc="-5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•Difficult to detect patterns and recurring issues across complaints</a:t>
            </a:r>
          </a:p>
          <a:p>
            <a:pPr algn="l">
              <a:lnSpc>
                <a:spcPts val="5303"/>
              </a:lnSpc>
            </a:pPr>
            <a:r>
              <a:rPr lang="en-US" sz="3535" spc="-5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•Lack of structured data limits decision-making and analytics</a:t>
            </a:r>
          </a:p>
          <a:p>
            <a:pPr algn="l">
              <a:lnSpc>
                <a:spcPts val="5303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29682" y="-545920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7" y="0"/>
                </a:lnTo>
                <a:lnTo>
                  <a:pt x="28550447" y="11313545"/>
                </a:lnTo>
                <a:lnTo>
                  <a:pt x="0" y="11313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39830" y="0"/>
            <a:ext cx="6025718" cy="10287000"/>
          </a:xfrm>
          <a:custGeom>
            <a:avLst/>
            <a:gdLst/>
            <a:ahLst/>
            <a:cxnLst/>
            <a:rect r="r" b="b" t="t" l="l"/>
            <a:pathLst>
              <a:path h="10287000" w="6025718">
                <a:moveTo>
                  <a:pt x="0" y="0"/>
                </a:moveTo>
                <a:lnTo>
                  <a:pt x="6025718" y="0"/>
                </a:lnTo>
                <a:lnTo>
                  <a:pt x="602571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450334"/>
            <a:ext cx="11269282" cy="152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9"/>
              </a:lnSpc>
            </a:pPr>
            <a:r>
              <a:rPr lang="en-US" sz="10884" spc="-272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689" y="2846657"/>
            <a:ext cx="7877184" cy="652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Developed an automated complaint analysis system using AI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Uses Op</a:t>
            </a: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enAI language models to understand complaint text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Maps each c</a:t>
            </a: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omplaint to relevant KPIs (Key Performance Indicators)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Extracts structured ins</a:t>
            </a: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ights such as reasons and issues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Outputs results in JSON/CSV format for further analysis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71134"/>
            <a:ext cx="10386396" cy="312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Complaint dataset (Excel/CSV/ODS formats supported)</a:t>
            </a:r>
          </a:p>
          <a:p>
            <a:pPr algn="l">
              <a:lnSpc>
                <a:spcPts val="4199"/>
              </a:lnSpc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Each complaint contains ID and textual description</a:t>
            </a:r>
          </a:p>
          <a:p>
            <a:pPr algn="l">
              <a:lnSpc>
                <a:spcPts val="4199"/>
              </a:lnSpc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KPI table with KPI names and descriptions</a:t>
            </a:r>
          </a:p>
          <a:p>
            <a:pPr algn="l">
              <a:lnSpc>
                <a:spcPts val="4199"/>
              </a:lnSpc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Optional telecom providers list</a:t>
            </a:r>
          </a:p>
          <a:p>
            <a:pPr algn="l">
              <a:lnSpc>
                <a:spcPts val="4199"/>
              </a:lnSpc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System automatically detects required columns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33891"/>
            <a:ext cx="14423006" cy="152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9"/>
              </a:lnSpc>
            </a:pPr>
            <a:r>
              <a:rPr lang="en-US" sz="10884" spc="-272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INPUT DATA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1415085" y="-545920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28550447" y="0"/>
                </a:moveTo>
                <a:lnTo>
                  <a:pt x="0" y="0"/>
                </a:lnTo>
                <a:lnTo>
                  <a:pt x="0" y="11313545"/>
                </a:lnTo>
                <a:lnTo>
                  <a:pt x="28550447" y="11313545"/>
                </a:lnTo>
                <a:lnTo>
                  <a:pt x="285504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5110852"/>
            <a:ext cx="18288000" cy="4269957"/>
          </a:xfrm>
          <a:custGeom>
            <a:avLst/>
            <a:gdLst/>
            <a:ahLst/>
            <a:cxnLst/>
            <a:rect r="r" b="b" t="t" l="l"/>
            <a:pathLst>
              <a:path h="4269957" w="18288000">
                <a:moveTo>
                  <a:pt x="0" y="0"/>
                </a:moveTo>
                <a:lnTo>
                  <a:pt x="18288000" y="0"/>
                </a:lnTo>
                <a:lnTo>
                  <a:pt x="18288000" y="4269958"/>
                </a:lnTo>
                <a:lnTo>
                  <a:pt x="0" y="4269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15" t="0" r="-1315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3642" y="-513273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72573"/>
            <a:ext cx="8115300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2"/>
              </a:lnSpc>
            </a:pPr>
            <a:r>
              <a:rPr lang="en-US" sz="6285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System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32994"/>
            <a:ext cx="15764830" cy="5527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4249" spc="-6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1. Load input data using pandas</a:t>
            </a:r>
          </a:p>
          <a:p>
            <a:pPr algn="l">
              <a:lnSpc>
                <a:spcPts val="6374"/>
              </a:lnSpc>
            </a:pPr>
            <a:r>
              <a:rPr lang="en-US" sz="4249" spc="-6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2. Normalize and preprocess complaint text</a:t>
            </a:r>
          </a:p>
          <a:p>
            <a:pPr algn="l">
              <a:lnSpc>
                <a:spcPts val="6374"/>
              </a:lnSpc>
            </a:pPr>
            <a:r>
              <a:rPr lang="en-US" sz="4249" spc="-6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3. Build prompt including KPIs and complaints</a:t>
            </a:r>
          </a:p>
          <a:p>
            <a:pPr algn="l">
              <a:lnSpc>
                <a:spcPts val="6374"/>
              </a:lnSpc>
            </a:pPr>
            <a:r>
              <a:rPr lang="en-US" sz="4249" spc="-6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4. Send request to OpenAI API</a:t>
            </a:r>
          </a:p>
          <a:p>
            <a:pPr algn="l">
              <a:lnSpc>
                <a:spcPts val="6374"/>
              </a:lnSpc>
            </a:pPr>
            <a:r>
              <a:rPr lang="en-US" sz="4249" spc="-6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5. Parse JSON response from model</a:t>
            </a:r>
          </a:p>
          <a:p>
            <a:pPr algn="l">
              <a:lnSpc>
                <a:spcPts val="6374"/>
              </a:lnSpc>
            </a:pPr>
            <a:r>
              <a:rPr lang="en-US" sz="4249" spc="-6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6. Save results incrementally and finally</a:t>
            </a:r>
          </a:p>
          <a:p>
            <a:pPr algn="l">
              <a:lnSpc>
                <a:spcPts val="637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3642" y="-513273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25073"/>
            <a:ext cx="81153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2"/>
              </a:lnSpc>
            </a:pPr>
            <a:r>
              <a:rPr lang="en-US" sz="6285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Key Idea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32994"/>
            <a:ext cx="15764830" cy="632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4249" spc="-6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Transform unstructured complaint text into structured data</a:t>
            </a:r>
          </a:p>
          <a:p>
            <a:pPr algn="l">
              <a:lnSpc>
                <a:spcPts val="6374"/>
              </a:lnSpc>
            </a:pPr>
            <a:r>
              <a:rPr lang="en-US" sz="4249" spc="-6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Use LLM (Large Language Model) for semantic understanding</a:t>
            </a:r>
          </a:p>
          <a:p>
            <a:pPr algn="l">
              <a:lnSpc>
                <a:spcPts val="6374"/>
              </a:lnSpc>
            </a:pPr>
            <a:r>
              <a:rPr lang="en-US" sz="4249" spc="-6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Replace rule-based systems with flexible AI-based approach</a:t>
            </a:r>
          </a:p>
          <a:p>
            <a:pPr algn="l">
              <a:lnSpc>
                <a:spcPts val="6374"/>
              </a:lnSpc>
            </a:pPr>
            <a:r>
              <a:rPr lang="en-US" sz="4249" spc="-6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Enable automatic classification and explanation generation</a:t>
            </a:r>
          </a:p>
          <a:p>
            <a:pPr algn="l">
              <a:lnSpc>
                <a:spcPts val="637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3642" y="-513273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25073"/>
            <a:ext cx="81153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2"/>
              </a:lnSpc>
            </a:pPr>
            <a:r>
              <a:rPr lang="en-US" sz="6285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How It Works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32994"/>
            <a:ext cx="15764830" cy="5527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4249" spc="-6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Complaints are processed in batches (improves performance)</a:t>
            </a:r>
          </a:p>
          <a:p>
            <a:pPr algn="l">
              <a:lnSpc>
                <a:spcPts val="6374"/>
              </a:lnSpc>
            </a:pPr>
            <a:r>
              <a:rPr lang="en-US" sz="4249" spc="-6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Prompt includes complaint text, KPI list, and providers</a:t>
            </a:r>
          </a:p>
          <a:p>
            <a:pPr algn="l">
              <a:lnSpc>
                <a:spcPts val="6374"/>
              </a:lnSpc>
            </a:pPr>
            <a:r>
              <a:rPr lang="en-US" sz="4249" spc="-6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Model returns structured JSON response</a:t>
            </a:r>
          </a:p>
          <a:p>
            <a:pPr algn="l">
              <a:lnSpc>
                <a:spcPts val="6374"/>
              </a:lnSpc>
            </a:pPr>
            <a:r>
              <a:rPr lang="en-US" sz="4249" spc="-6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System extracts 'reason' for each complaint</a:t>
            </a:r>
          </a:p>
          <a:p>
            <a:pPr algn="l">
              <a:lnSpc>
                <a:spcPts val="6374"/>
              </a:lnSpc>
            </a:pPr>
            <a:r>
              <a:rPr lang="en-US" sz="4249" spc="-6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Results are validated and normalized</a:t>
            </a:r>
          </a:p>
          <a:p>
            <a:pPr algn="l">
              <a:lnSpc>
                <a:spcPts val="637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3642" y="-513273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3642" y="-513273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131820"/>
            <a:ext cx="18288000" cy="6126480"/>
          </a:xfrm>
          <a:custGeom>
            <a:avLst/>
            <a:gdLst/>
            <a:ahLst/>
            <a:cxnLst/>
            <a:rect r="r" b="b" t="t" l="l"/>
            <a:pathLst>
              <a:path h="6126480" w="18288000">
                <a:moveTo>
                  <a:pt x="0" y="0"/>
                </a:moveTo>
                <a:lnTo>
                  <a:pt x="18288000" y="0"/>
                </a:lnTo>
                <a:lnTo>
                  <a:pt x="18288000" y="6126480"/>
                </a:lnTo>
                <a:lnTo>
                  <a:pt x="0" y="6126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525073"/>
            <a:ext cx="81153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2"/>
              </a:lnSpc>
            </a:pPr>
            <a:r>
              <a:rPr lang="en-US" sz="6285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Example Output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3642" y="-513273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44096"/>
            <a:ext cx="81153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2"/>
              </a:lnSpc>
            </a:pPr>
            <a:r>
              <a:rPr lang="en-US" sz="6285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Technologies Used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499" y="3179390"/>
            <a:ext cx="14244029" cy="4278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Python (core programming language)</a:t>
            </a:r>
          </a:p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Pandas (data processing and tables)</a:t>
            </a:r>
          </a:p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OpenAI API (natural language processing)</a:t>
            </a:r>
          </a:p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JSON / CSV (data storage formats)</a:t>
            </a:r>
          </a:p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Multithreading (parallel batch processing)</a:t>
            </a:r>
          </a:p>
          <a:p>
            <a:pPr algn="l">
              <a:lnSpc>
                <a:spcPts val="57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3642" y="-513273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149840"/>
          </a:xfrm>
          <a:custGeom>
            <a:avLst/>
            <a:gdLst/>
            <a:ahLst/>
            <a:cxnLst/>
            <a:rect r="r" b="b" t="t" l="l"/>
            <a:pathLst>
              <a:path h="10149840" w="18288000">
                <a:moveTo>
                  <a:pt x="0" y="0"/>
                </a:moveTo>
                <a:lnTo>
                  <a:pt x="18288000" y="0"/>
                </a:lnTo>
                <a:lnTo>
                  <a:pt x="18288000" y="10149840"/>
                </a:lnTo>
                <a:lnTo>
                  <a:pt x="0" y="101498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84" t="0" r="-684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3642" y="-513273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44096"/>
            <a:ext cx="81153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2"/>
              </a:lnSpc>
            </a:pPr>
            <a:r>
              <a:rPr lang="en-US" sz="6285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Features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499" y="3179390"/>
            <a:ext cx="14244029" cy="4278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Automatic column detection (flexible input files)</a:t>
            </a:r>
          </a:p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Batch processing for efficiency</a:t>
            </a:r>
          </a:p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Parallel execution for faster processing</a:t>
            </a:r>
          </a:p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Error handling for API failures</a:t>
            </a:r>
          </a:p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Partial saving to prevent data loss</a:t>
            </a:r>
          </a:p>
          <a:p>
            <a:pPr algn="l">
              <a:lnSpc>
                <a:spcPts val="575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3642" y="-513273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44096"/>
            <a:ext cx="81153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2"/>
              </a:lnSpc>
            </a:pPr>
            <a:r>
              <a:rPr lang="en-US" sz="6285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Challenges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499" y="3179390"/>
            <a:ext cx="14244029" cy="4278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Supporting multiple file formats (CSV, XLSX, ODS)</a:t>
            </a:r>
          </a:p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Ensuring correct JSON parsing from AI responses</a:t>
            </a:r>
          </a:p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Handling API rate limits and errors</a:t>
            </a:r>
          </a:p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Cleaning and normalizing messy real-world data</a:t>
            </a:r>
          </a:p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Maintaining consistency in results</a:t>
            </a:r>
          </a:p>
          <a:p>
            <a:pPr algn="l">
              <a:lnSpc>
                <a:spcPts val="575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3642" y="-513273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44096"/>
            <a:ext cx="81153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2"/>
              </a:lnSpc>
            </a:pPr>
            <a:r>
              <a:rPr lang="en-US" sz="6285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499" y="3179390"/>
            <a:ext cx="14244029" cy="4278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Fully automated complaint analysis pipeline</a:t>
            </a:r>
          </a:p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Converts text into structured insights</a:t>
            </a:r>
          </a:p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Reduces manual work and increases efficiency</a:t>
            </a:r>
          </a:p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Helps identify key telecom service issues</a:t>
            </a:r>
          </a:p>
          <a:p>
            <a:pPr algn="l">
              <a:lnSpc>
                <a:spcPts val="5759"/>
              </a:lnSpc>
            </a:pPr>
            <a:r>
              <a:rPr lang="en-US" sz="3839" spc="-5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• Can be extended to real-world production systems</a:t>
            </a:r>
          </a:p>
          <a:p>
            <a:pPr algn="l">
              <a:lnSpc>
                <a:spcPts val="575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90515" y="-2377820"/>
            <a:ext cx="19285436" cy="15042640"/>
          </a:xfrm>
          <a:custGeom>
            <a:avLst/>
            <a:gdLst/>
            <a:ahLst/>
            <a:cxnLst/>
            <a:rect r="r" b="b" t="t" l="l"/>
            <a:pathLst>
              <a:path h="15042640" w="19285436">
                <a:moveTo>
                  <a:pt x="0" y="0"/>
                </a:moveTo>
                <a:lnTo>
                  <a:pt x="19285437" y="0"/>
                </a:lnTo>
                <a:lnTo>
                  <a:pt x="19285437" y="15042640"/>
                </a:lnTo>
                <a:lnTo>
                  <a:pt x="0" y="15042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9150" y="2700805"/>
            <a:ext cx="16440150" cy="3444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8"/>
              </a:lnSpc>
              <a:spcBef>
                <a:spcPct val="0"/>
              </a:spcBef>
            </a:pPr>
            <a:r>
              <a:rPr lang="en-US" sz="18120" i="true" spc="-906">
                <a:solidFill>
                  <a:srgbClr val="0E4714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DAHHBEDwUgE</dc:identifier>
  <dcterms:modified xsi:type="dcterms:W3CDTF">2011-08-01T06:04:30Z</dcterms:modified>
  <cp:revision>1</cp:revision>
  <dc:title>Complaint KPI Analyzer</dc:title>
</cp:coreProperties>
</file>